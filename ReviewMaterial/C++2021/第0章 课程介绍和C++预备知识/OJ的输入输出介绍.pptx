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51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14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643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52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68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75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94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2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6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18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AB476-6316-4505-AD9E-C6624E3F8042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E7D42-3921-42DE-A4EB-CDFE5626DF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93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jfuacm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OJ</a:t>
            </a:r>
            <a:r>
              <a:rPr lang="zh-CN" altLang="en-US" dirty="0"/>
              <a:t>输入输出</a:t>
            </a:r>
            <a:r>
              <a:rPr lang="zh-CN" altLang="en-US"/>
              <a:t>形式介绍 </a:t>
            </a:r>
            <a:r>
              <a:rPr lang="en-US" altLang="zh-CN">
                <a:hlinkClick r:id="rId2"/>
              </a:rPr>
              <a:t>www.bjfuacm.com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pPr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由于在线评判系统题目的输入数据和输出数据一般有多组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（不定），并且格式多种多样，所以，如何处理题目的输入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  <a:p>
            <a:pPr>
              <a:buNone/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输出是对大家的一项最基本的要求。</a:t>
            </a:r>
          </a:p>
        </p:txBody>
      </p:sp>
    </p:spTree>
    <p:extLst>
      <p:ext uri="{BB962C8B-B14F-4D97-AF65-F5344CB8AC3E}">
        <p14:creationId xmlns:p14="http://schemas.microsoft.com/office/powerpoint/2010/main" val="416288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ea typeface="黑体" pitchFamily="2" charset="-122"/>
              </a:rPr>
              <a:t>输入</a:t>
            </a:r>
            <a:r>
              <a:rPr lang="en-US" altLang="zh-CN" b="1">
                <a:ea typeface="黑体" pitchFamily="2" charset="-122"/>
              </a:rPr>
              <a:t>_</a:t>
            </a:r>
            <a:r>
              <a:rPr lang="zh-CN" altLang="en-US" b="1">
                <a:ea typeface="黑体" pitchFamily="2" charset="-122"/>
              </a:rPr>
              <a:t>第一类：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>
          <a:xfrm>
            <a:off x="2706689" y="2017713"/>
            <a:ext cx="4937125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输入不说明有多少个</a:t>
            </a:r>
            <a:r>
              <a:rPr lang="en-US" altLang="zh-CN" dirty="0"/>
              <a:t>Input Block,</a:t>
            </a:r>
            <a:r>
              <a:rPr lang="zh-CN" altLang="en-US" dirty="0"/>
              <a:t>以</a:t>
            </a:r>
            <a:r>
              <a:rPr lang="en-US" altLang="zh-CN" dirty="0"/>
              <a:t>EOF</a:t>
            </a:r>
            <a:r>
              <a:rPr lang="zh-CN" altLang="en-US" dirty="0"/>
              <a:t>为结束标志</a:t>
            </a:r>
            <a:r>
              <a:rPr lang="zh-CN" altLang="en-US"/>
              <a:t>。 </a:t>
            </a:r>
            <a:endParaRPr lang="en-US" altLang="zh-CN" dirty="0"/>
          </a:p>
        </p:txBody>
      </p:sp>
      <p:sp>
        <p:nvSpPr>
          <p:cNvPr id="25602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F655E186-A814-447F-B184-C77AED9829F5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560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DEE86D-29A4-4EA2-8D80-ADBADE4F49BA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72376" y="2205038"/>
            <a:ext cx="2741613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8925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7" y="404665"/>
            <a:ext cx="7793037" cy="1019175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黑体" pitchFamily="2" charset="-122"/>
              </a:rPr>
              <a:t>源代码</a:t>
            </a:r>
            <a:r>
              <a:rPr lang="zh-CN" altLang="en-US" b="1" dirty="0">
                <a:ea typeface="黑体" pitchFamily="2" charset="-122"/>
              </a:rPr>
              <a:t>：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>
          <a:xfrm>
            <a:off x="2424113" y="1989139"/>
            <a:ext cx="7308850" cy="44354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#</a:t>
            </a:r>
            <a:r>
              <a:rPr lang="en-US" altLang="zh-CN"/>
              <a:t>include &lt;cstdio&gt;</a:t>
            </a:r>
            <a:endParaRPr lang="en-US" altLang="zh-CN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{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4000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a,b</a:t>
            </a:r>
            <a:r>
              <a:rPr lang="en-US" altLang="zh-CN" dirty="0"/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	  </a:t>
            </a:r>
            <a:r>
              <a:rPr lang="en-US" altLang="zh-CN" sz="2800" dirty="0"/>
              <a:t>while(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("%d 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, &amp;b) != EOF)</a:t>
            </a:r>
            <a:r>
              <a:rPr lang="en-US" altLang="zh-CN" dirty="0"/>
              <a:t>  	           	</a:t>
            </a:r>
            <a:r>
              <a:rPr lang="en-US" altLang="zh-CN" dirty="0" err="1"/>
              <a:t>printf</a:t>
            </a:r>
            <a:r>
              <a:rPr lang="en-US" altLang="zh-CN" dirty="0"/>
              <a:t>("%d\n",</a:t>
            </a:r>
            <a:r>
              <a:rPr lang="en-US" altLang="zh-CN" dirty="0" err="1"/>
              <a:t>a+b</a:t>
            </a:r>
            <a:r>
              <a:rPr lang="en-US" altLang="zh-CN" dirty="0"/>
              <a:t>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}</a:t>
            </a:r>
            <a:r>
              <a:rPr lang="en-US" altLang="zh-CN" sz="2800" dirty="0"/>
              <a:t> </a:t>
            </a:r>
          </a:p>
        </p:txBody>
      </p:sp>
      <p:sp>
        <p:nvSpPr>
          <p:cNvPr id="26626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36A0E5E-481C-4683-8904-4BC0F2D8CF3B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662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6F08574-AF71-4DCF-A9ED-0C61F59131ED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3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008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476672"/>
            <a:ext cx="6208712" cy="839788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本类输入解决方案：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2424114" y="1916113"/>
            <a:ext cx="7127875" cy="41767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/>
              <a:t>C</a:t>
            </a:r>
            <a:r>
              <a:rPr lang="zh-CN" altLang="en-US" sz="2800"/>
              <a:t>语法：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while(scanf("%d %d",&amp;a, &amp;b) != EOF)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/>
              <a:t>	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>
                <a:solidFill>
                  <a:srgbClr val="FF0000"/>
                </a:solidFill>
              </a:rPr>
              <a:t>C++</a:t>
            </a:r>
            <a:r>
              <a:rPr lang="zh-CN" altLang="en-US" sz="2800">
                <a:solidFill>
                  <a:srgbClr val="FF0000"/>
                </a:solidFill>
              </a:rPr>
              <a:t>语法：（推荐）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while( cin &gt;&gt; a &gt;&gt; b ) </a:t>
            </a:r>
            <a:br>
              <a:rPr lang="en-US" altLang="zh-CN" sz="2800"/>
            </a:br>
            <a:r>
              <a:rPr lang="en-US" altLang="zh-CN" sz="2800"/>
              <a:t>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</p:txBody>
      </p:sp>
      <p:sp>
        <p:nvSpPr>
          <p:cNvPr id="27650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90D3197A-AC66-4DF3-AC23-D731EC85539E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765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ABEB30-DE10-4758-B9C4-342F1BC2137F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4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19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576" y="404665"/>
            <a:ext cx="6516688" cy="841375"/>
          </a:xfrm>
        </p:spPr>
        <p:txBody>
          <a:bodyPr/>
          <a:lstStyle/>
          <a:p>
            <a:pPr eaLnBrk="1" hangingPunct="1"/>
            <a:r>
              <a:rPr lang="zh-CN" altLang="en-US" b="1">
                <a:ea typeface="黑体" pitchFamily="2" charset="-122"/>
              </a:rPr>
              <a:t>说明：</a:t>
            </a:r>
            <a:endParaRPr lang="zh-CN" altLang="en-US" b="1" dirty="0">
              <a:ea typeface="黑体" pitchFamily="2" charset="-122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</p:nvPr>
        </p:nvSpPr>
        <p:spPr>
          <a:xfrm>
            <a:off x="2387600" y="2017713"/>
            <a:ext cx="7704138" cy="41148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dirty="0" err="1">
                <a:latin typeface="Consolas" pitchFamily="49" charset="0"/>
                <a:cs typeface="Consolas" pitchFamily="49" charset="0"/>
              </a:rPr>
              <a:t>scanf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函数返回值就是读出的变量个数，如：</a:t>
            </a:r>
            <a:r>
              <a:rPr lang="en-US" altLang="zh-CN" dirty="0" err="1">
                <a:latin typeface="Consolas" pitchFamily="49" charset="0"/>
                <a:cs typeface="Consolas" pitchFamily="49" charset="0"/>
              </a:rPr>
              <a:t>scanf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( “%d  %d”, &amp;a, &amp;b ); </a:t>
            </a:r>
            <a:br>
              <a:rPr lang="en-US" altLang="zh-CN" dirty="0">
                <a:latin typeface="Consolas" pitchFamily="49" charset="0"/>
                <a:cs typeface="Consolas" pitchFamily="49" charset="0"/>
              </a:rPr>
            </a:br>
            <a:r>
              <a:rPr lang="zh-CN" altLang="en-US" dirty="0">
                <a:latin typeface="Consolas" pitchFamily="49" charset="0"/>
                <a:cs typeface="Consolas" pitchFamily="49" charset="0"/>
              </a:rPr>
              <a:t>如果只有一个整数输入，返回值是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，如果有两个整数输入，返回值是</a:t>
            </a:r>
            <a:r>
              <a:rPr lang="en-US" altLang="zh-CN">
                <a:latin typeface="Consolas" pitchFamily="49" charset="0"/>
                <a:cs typeface="Consolas" pitchFamily="49" charset="0"/>
              </a:rPr>
              <a:t>2</a:t>
            </a:r>
            <a:r>
              <a:rPr lang="zh-CN" altLang="en-US">
                <a:latin typeface="Consolas" pitchFamily="49" charset="0"/>
                <a:cs typeface="Consolas" pitchFamily="49" charset="0"/>
              </a:rPr>
              <a:t>，如果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一个都没有，则返回值是</a:t>
            </a:r>
            <a:r>
              <a:rPr lang="en-US" altLang="zh-CN">
                <a:latin typeface="Consolas" pitchFamily="49" charset="0"/>
                <a:cs typeface="Consolas" pitchFamily="49" charset="0"/>
              </a:rPr>
              <a:t>0</a:t>
            </a:r>
            <a:r>
              <a:rPr lang="zh-CN" altLang="en-US">
                <a:latin typeface="Consolas" pitchFamily="49" charset="0"/>
                <a:cs typeface="Consolas" pitchFamily="49" charset="0"/>
              </a:rPr>
              <a:t>。如果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没有读入内容，则读入失败返回值是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EOF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。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EOF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是一个预定义的常量，等于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-1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。</a:t>
            </a:r>
            <a:endParaRPr lang="en-US" altLang="zh-CN" dirty="0">
              <a:latin typeface="Consolas" pitchFamily="49" charset="0"/>
              <a:cs typeface="Consolas" pitchFamily="49" charset="0"/>
            </a:endParaRPr>
          </a:p>
          <a:p>
            <a:pPr marL="609600" indent="-609600">
              <a:lnSpc>
                <a:spcPct val="110000"/>
              </a:lnSpc>
              <a:buNone/>
            </a:pP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w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hile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scanf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(“%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d”,&amp;n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)!=-1)</a:t>
            </a:r>
            <a:endParaRPr lang="zh-CN" altLang="en-US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674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B291E6EA-9A55-4965-B5C9-C8485C00B7C3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867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ABF16B-9D8E-4ED9-95C5-6156CD2047E8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5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297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332656"/>
            <a:ext cx="5905500" cy="947738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输入</a:t>
            </a:r>
            <a:r>
              <a:rPr lang="en-US" altLang="zh-CN" b="1" dirty="0">
                <a:ea typeface="黑体" pitchFamily="2" charset="-122"/>
              </a:rPr>
              <a:t>_</a:t>
            </a:r>
            <a:r>
              <a:rPr lang="zh-CN" altLang="en-US" b="1" dirty="0">
                <a:ea typeface="黑体" pitchFamily="2" charset="-122"/>
              </a:rPr>
              <a:t>第二类：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2706689" y="2017713"/>
            <a:ext cx="4721225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输入一开始就会说有</a:t>
            </a:r>
            <a:r>
              <a:rPr lang="en-US" altLang="zh-CN" dirty="0"/>
              <a:t>N</a:t>
            </a:r>
            <a:r>
              <a:rPr lang="zh-CN" altLang="en-US" dirty="0"/>
              <a:t>个</a:t>
            </a:r>
            <a:r>
              <a:rPr lang="en-US" altLang="zh-CN" dirty="0"/>
              <a:t>Input Block,</a:t>
            </a:r>
            <a:r>
              <a:rPr lang="zh-CN" altLang="en-US" dirty="0"/>
              <a:t>下面接着是</a:t>
            </a:r>
            <a:r>
              <a:rPr lang="en-US" altLang="zh-CN" dirty="0"/>
              <a:t>N</a:t>
            </a:r>
            <a:r>
              <a:rPr lang="zh-CN" altLang="en-US" dirty="0"/>
              <a:t>个</a:t>
            </a:r>
            <a:r>
              <a:rPr lang="en-US" altLang="zh-CN" dirty="0"/>
              <a:t>Input Block</a:t>
            </a:r>
            <a:r>
              <a:rPr lang="zh-CN" altLang="en-US" dirty="0"/>
              <a:t>。 </a:t>
            </a:r>
            <a:br>
              <a:rPr lang="zh-CN" altLang="en-US"/>
            </a:br>
            <a:endParaRPr lang="zh-CN" altLang="en-US" dirty="0"/>
          </a:p>
        </p:txBody>
      </p:sp>
      <p:sp>
        <p:nvSpPr>
          <p:cNvPr id="29698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BB722263-0521-401A-AE00-77419B38BA87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296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8A18B3-9877-4EF2-ACDF-3E057177808E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6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35863" y="1989138"/>
            <a:ext cx="2844800" cy="394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705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332657"/>
            <a:ext cx="5795962" cy="9366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黑体" pitchFamily="2" charset="-122"/>
                <a:ea typeface="黑体" pitchFamily="2" charset="-122"/>
              </a:rPr>
              <a:t>源代码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：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>
          <a:xfrm>
            <a:off x="2424114" y="1989138"/>
            <a:ext cx="6372225" cy="4500562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#</a:t>
            </a:r>
            <a:r>
              <a:rPr lang="en-US" altLang="zh-CN" sz="2800"/>
              <a:t>include &lt;cstdio&gt;</a:t>
            </a:r>
            <a:endParaRPr lang="en-US" altLang="zh-CN" sz="2800" dirty="0"/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int main()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   int </a:t>
            </a:r>
            <a:r>
              <a:rPr lang="en-US" altLang="zh-CN" sz="2800" dirty="0" err="1"/>
              <a:t>n,i,a,b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	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</a:t>
            </a:r>
            <a:r>
              <a:rPr lang="en-US" altLang="zh-CN" dirty="0"/>
              <a:t>"</a:t>
            </a:r>
            <a:r>
              <a:rPr lang="en-US" altLang="zh-CN" sz="2800" dirty="0"/>
              <a:t>%</a:t>
            </a:r>
            <a:r>
              <a:rPr lang="en-US" altLang="zh-CN" sz="2800" dirty="0" err="1"/>
              <a:t>d</a:t>
            </a:r>
            <a:r>
              <a:rPr lang="en-US" altLang="zh-CN" dirty="0" err="1"/>
              <a:t>"</a:t>
            </a:r>
            <a:r>
              <a:rPr lang="en-US" altLang="zh-CN" sz="2800" dirty="0" err="1"/>
              <a:t>,&amp;n</a:t>
            </a:r>
            <a:r>
              <a:rPr lang="en-US" altLang="zh-CN" sz="2800" dirty="0"/>
              <a:t>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for(</a:t>
            </a:r>
            <a:r>
              <a:rPr lang="en-US" altLang="zh-CN" dirty="0" err="1"/>
              <a:t>i</a:t>
            </a:r>
            <a:r>
              <a:rPr lang="en-US" altLang="zh-CN" dirty="0"/>
              <a:t>=0;i&lt;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	 </a:t>
            </a:r>
            <a:r>
              <a:rPr lang="en-US" altLang="zh-CN" dirty="0" err="1"/>
              <a:t>scanf</a:t>
            </a:r>
            <a:r>
              <a:rPr lang="en-US" altLang="zh-CN" dirty="0"/>
              <a:t>("%d %</a:t>
            </a:r>
            <a:r>
              <a:rPr lang="en-US" altLang="zh-CN" dirty="0" err="1"/>
              <a:t>d",&amp;a</a:t>
            </a:r>
            <a:r>
              <a:rPr lang="en-US" altLang="zh-CN" dirty="0"/>
              <a:t>, &amp;b);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  	 </a:t>
            </a:r>
            <a:r>
              <a:rPr lang="en-US" altLang="zh-CN" dirty="0" err="1"/>
              <a:t>printf</a:t>
            </a:r>
            <a:r>
              <a:rPr lang="en-US" altLang="zh-CN" dirty="0"/>
              <a:t>("%d\n",</a:t>
            </a:r>
            <a:r>
              <a:rPr lang="en-US" altLang="zh-CN" dirty="0" err="1"/>
              <a:t>a+b</a:t>
            </a:r>
            <a:r>
              <a:rPr lang="en-US" altLang="zh-CN" dirty="0"/>
              <a:t>);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}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} </a:t>
            </a:r>
          </a:p>
        </p:txBody>
      </p:sp>
      <p:sp>
        <p:nvSpPr>
          <p:cNvPr id="30722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C52E49D4-8C61-4CD5-9331-AA57008B2032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07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631D04-5AB4-434E-912A-A686F0900ED0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7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236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1159" y="428604"/>
            <a:ext cx="5761037" cy="839788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本类输入解决方案：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2459039" y="1952626"/>
            <a:ext cx="7519987" cy="46085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800"/>
              <a:t>C</a:t>
            </a:r>
            <a:r>
              <a:rPr lang="zh-CN" altLang="en-US" sz="2800"/>
              <a:t>语法：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scanf("%d",&amp;n) ;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/>
              <a:t>	for( i=0 ; i&lt;n ; i++ ) </a:t>
            </a:r>
            <a:br>
              <a:rPr lang="en-US" altLang="zh-CN" sz="2800"/>
            </a:br>
            <a:r>
              <a:rPr lang="en-US" altLang="zh-CN" sz="2800"/>
              <a:t>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800"/>
              <a:t>C++</a:t>
            </a:r>
            <a:r>
              <a:rPr lang="zh-CN" altLang="en-US" sz="2800"/>
              <a:t>语法：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cin &gt;&gt; n; </a:t>
            </a:r>
            <a:br>
              <a:rPr lang="en-US" altLang="zh-CN" sz="2800"/>
            </a:br>
            <a:r>
              <a:rPr lang="en-US" altLang="zh-CN" sz="2800"/>
              <a:t>for( i=0 ; i&lt;n ; i++ ) </a:t>
            </a:r>
            <a:br>
              <a:rPr lang="en-US" altLang="zh-CN" sz="2800"/>
            </a:br>
            <a:r>
              <a:rPr lang="en-US" altLang="zh-CN" sz="2800"/>
              <a:t>{ </a:t>
            </a:r>
            <a:br>
              <a:rPr lang="en-US" altLang="zh-CN" sz="2800"/>
            </a:b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</a:t>
            </a:r>
            <a:r>
              <a:rPr lang="en-US" altLang="zh-CN" sz="2800">
                <a:latin typeface="Arial" charset="0"/>
              </a:rPr>
              <a:t> </a:t>
            </a:r>
            <a:r>
              <a:rPr lang="en-US" altLang="zh-CN" sz="2800"/>
              <a:t> .... </a:t>
            </a:r>
            <a:br>
              <a:rPr lang="en-US" altLang="zh-CN" sz="2800"/>
            </a:br>
            <a:r>
              <a:rPr lang="en-US" altLang="zh-CN" sz="2800"/>
              <a:t>} </a:t>
            </a:r>
          </a:p>
        </p:txBody>
      </p:sp>
      <p:sp>
        <p:nvSpPr>
          <p:cNvPr id="31746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9D6E76B-ACD1-41BE-A61F-ECCA43DE260C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17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6CE915-06DA-48E5-89CD-25B86C0C7296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8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98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7" y="332656"/>
            <a:ext cx="7793037" cy="76835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输入</a:t>
            </a:r>
            <a:r>
              <a:rPr lang="en-US" altLang="zh-CN" b="1" dirty="0">
                <a:ea typeface="黑体" pitchFamily="2" charset="-122"/>
              </a:rPr>
              <a:t>_</a:t>
            </a:r>
            <a:r>
              <a:rPr lang="zh-CN" altLang="en-US" b="1" dirty="0">
                <a:ea typeface="黑体" pitchFamily="2" charset="-122"/>
              </a:rPr>
              <a:t>第三类：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>
          <a:xfrm>
            <a:off x="2387600" y="2017713"/>
            <a:ext cx="4248150" cy="4114800"/>
          </a:xfrm>
        </p:spPr>
        <p:txBody>
          <a:bodyPr/>
          <a:lstStyle/>
          <a:p>
            <a:pPr eaLnBrk="1" hangingPunct="1"/>
            <a:r>
              <a:rPr lang="zh-CN" altLang="en-US"/>
              <a:t>输入不说明有多少个</a:t>
            </a:r>
            <a:r>
              <a:rPr lang="en-US" altLang="zh-CN"/>
              <a:t>Input Block,</a:t>
            </a:r>
            <a:r>
              <a:rPr lang="zh-CN" altLang="en-US"/>
              <a:t>但以某个特殊输入为结束标志。</a:t>
            </a:r>
          </a:p>
        </p:txBody>
      </p:sp>
      <p:sp>
        <p:nvSpPr>
          <p:cNvPr id="32770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A7BA7464-0583-4E67-8C77-FEC61F3E1B6C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277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095C9A-34DF-4955-A872-17B759BA888B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9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pic>
        <p:nvPicPr>
          <p:cNvPr id="3277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6725" y="2097088"/>
            <a:ext cx="2700338" cy="385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9279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2024035" y="428605"/>
            <a:ext cx="6192837" cy="9366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黑体" pitchFamily="2" charset="-122"/>
                <a:ea typeface="黑体" pitchFamily="2" charset="-122"/>
              </a:rPr>
              <a:t>源代码：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2351088" y="2133600"/>
            <a:ext cx="7453312" cy="3024188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#</a:t>
            </a:r>
            <a:r>
              <a:rPr lang="en-US" altLang="zh-CN" sz="2800"/>
              <a:t>include &lt;cstdio&gt;</a:t>
            </a:r>
            <a:endParaRPr lang="en-US" altLang="zh-CN" sz="2800" dirty="0"/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{ 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3600" dirty="0"/>
              <a:t>	</a:t>
            </a:r>
            <a:r>
              <a:rPr lang="en-US" altLang="zh-CN" sz="2400" dirty="0"/>
              <a:t>while(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 %</a:t>
            </a:r>
            <a:r>
              <a:rPr lang="en-US" altLang="zh-CN" sz="2400" dirty="0" err="1"/>
              <a:t>d",&amp;a</a:t>
            </a:r>
            <a:r>
              <a:rPr lang="en-US" altLang="zh-CN" sz="2400" dirty="0"/>
              <a:t>, &amp;b) &amp;&amp;(a!=0|| b!=0))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dirty="0"/>
              <a:t>   	 </a:t>
            </a:r>
            <a:r>
              <a:rPr lang="en-US" altLang="zh-CN" dirty="0" err="1"/>
              <a:t>printf</a:t>
            </a:r>
            <a:r>
              <a:rPr lang="en-US" altLang="zh-CN" dirty="0"/>
              <a:t>("%d\</a:t>
            </a:r>
            <a:r>
              <a:rPr lang="en-US" altLang="zh-CN" dirty="0" err="1"/>
              <a:t>n",a+b</a:t>
            </a:r>
            <a:r>
              <a:rPr lang="en-US" altLang="zh-CN" dirty="0"/>
              <a:t>);</a:t>
            </a:r>
          </a:p>
          <a:p>
            <a:pPr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800" dirty="0"/>
              <a:t> }</a:t>
            </a:r>
            <a:r>
              <a:rPr lang="en-US" altLang="zh-CN" dirty="0"/>
              <a:t> </a:t>
            </a:r>
          </a:p>
        </p:txBody>
      </p:sp>
      <p:sp>
        <p:nvSpPr>
          <p:cNvPr id="33794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7EAF7F4-7F01-45DA-B4DB-17F05CDE2539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37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82DE029-48E1-481A-BFF7-089E33AC39B5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10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5585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7568" y="404664"/>
            <a:ext cx="6121400" cy="839788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本类输入解决方案：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2387601" y="1989138"/>
            <a:ext cx="7591425" cy="43561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C</a:t>
            </a:r>
            <a:r>
              <a:rPr lang="zh-CN" altLang="en-US" sz="2800" dirty="0"/>
              <a:t>语法：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while(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d",&amp;n</a:t>
            </a:r>
            <a:r>
              <a:rPr lang="en-US" altLang="zh-CN" sz="2800" dirty="0"/>
              <a:t>)  &amp;&amp; n!=0 )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{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.... </a:t>
            </a:r>
            <a:br>
              <a:rPr lang="en-US" altLang="zh-CN" sz="2800" dirty="0"/>
            </a:br>
            <a:r>
              <a:rPr lang="en-US" altLang="zh-CN" sz="2800" dirty="0"/>
              <a:t>}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C++</a:t>
            </a:r>
            <a:r>
              <a:rPr lang="zh-CN" altLang="en-US" sz="2800" dirty="0"/>
              <a:t>语法：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while( </a:t>
            </a:r>
            <a:r>
              <a:rPr lang="en-US" altLang="zh-CN" sz="2800" dirty="0" err="1"/>
              <a:t>cin</a:t>
            </a:r>
            <a:r>
              <a:rPr lang="en-US" altLang="zh-CN" sz="2800" dirty="0"/>
              <a:t> &gt;&gt; n &amp;&amp; n != 0 ) </a:t>
            </a:r>
            <a:br>
              <a:rPr lang="en-US" altLang="zh-CN" sz="2800" dirty="0"/>
            </a:br>
            <a:r>
              <a:rPr lang="en-US" altLang="zh-CN" sz="2800" dirty="0"/>
              <a:t>{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Arial" charset="0"/>
              </a:rPr>
              <a:t> </a:t>
            </a:r>
            <a:r>
              <a:rPr lang="en-US" altLang="zh-CN" sz="2800" dirty="0"/>
              <a:t> .... </a:t>
            </a:r>
            <a:br>
              <a:rPr lang="en-US" altLang="zh-CN" sz="2800" dirty="0"/>
            </a:br>
            <a:r>
              <a:rPr lang="en-US" altLang="zh-CN" sz="2800" dirty="0"/>
              <a:t>} </a:t>
            </a:r>
          </a:p>
        </p:txBody>
      </p:sp>
      <p:sp>
        <p:nvSpPr>
          <p:cNvPr id="34818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1067A437-43A6-47A9-A987-7EC96A390A23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48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42966E-4F76-41DA-AD51-556C6210B9EE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3999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537" y="404665"/>
            <a:ext cx="7793037" cy="803275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输入</a:t>
            </a:r>
            <a:r>
              <a:rPr lang="en-US" altLang="zh-CN" b="1" dirty="0">
                <a:ea typeface="黑体" pitchFamily="2" charset="-122"/>
              </a:rPr>
              <a:t>_</a:t>
            </a:r>
            <a:r>
              <a:rPr lang="zh-CN" altLang="en-US" b="1" dirty="0">
                <a:ea typeface="黑体" pitchFamily="2" charset="-122"/>
              </a:rPr>
              <a:t>第四类：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idx="1"/>
          </p:nvPr>
        </p:nvSpPr>
        <p:spPr>
          <a:xfrm>
            <a:off x="2706688" y="2017713"/>
            <a:ext cx="7169150" cy="4114800"/>
          </a:xfrm>
        </p:spPr>
        <p:txBody>
          <a:bodyPr/>
          <a:lstStyle/>
          <a:p>
            <a:pPr eaLnBrk="1" hangingPunct="1"/>
            <a:r>
              <a:rPr lang="zh-CN" altLang="en-US" dirty="0"/>
              <a:t>输入是一整行</a:t>
            </a:r>
            <a:r>
              <a:rPr lang="zh-CN" altLang="en-US"/>
              <a:t>的字符串</a:t>
            </a:r>
            <a:br>
              <a:rPr lang="zh-CN" altLang="en-US"/>
            </a:br>
            <a:endParaRPr lang="zh-CN" altLang="en-US" dirty="0"/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FDF09686-C004-4E2B-B1D2-9D1AD2D462A4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686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1754F5-F7E4-4ED4-85F1-3C025D4909A4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12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4453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5" y="404664"/>
            <a:ext cx="5653087" cy="839788"/>
          </a:xfrm>
        </p:spPr>
        <p:txBody>
          <a:bodyPr/>
          <a:lstStyle/>
          <a:p>
            <a:pPr eaLnBrk="1" hangingPunct="1"/>
            <a:r>
              <a:rPr lang="zh-CN" altLang="en-US" b="1" dirty="0">
                <a:ea typeface="黑体" pitchFamily="2" charset="-122"/>
              </a:rPr>
              <a:t>本类输入解决方案：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idx="1"/>
          </p:nvPr>
        </p:nvSpPr>
        <p:spPr>
          <a:xfrm>
            <a:off x="2566988" y="1989138"/>
            <a:ext cx="6659562" cy="41402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 sz="2800" dirty="0"/>
              <a:t>C</a:t>
            </a:r>
            <a:r>
              <a:rPr lang="zh-CN" altLang="en-US" sz="2800" dirty="0"/>
              <a:t>语法：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chemeClr val="hlink"/>
                </a:solidFill>
              </a:rPr>
              <a:t>	</a:t>
            </a:r>
            <a:r>
              <a:rPr lang="en-US" altLang="zh-CN" sz="2800" dirty="0"/>
              <a:t>char 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[200];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while(</a:t>
            </a:r>
            <a:r>
              <a:rPr lang="en-US" altLang="zh-CN" sz="2800" dirty="0"/>
              <a:t>gets(</a:t>
            </a:r>
            <a:r>
              <a:rPr lang="en-US" altLang="zh-CN" sz="2800" dirty="0" err="1"/>
              <a:t>buf</a:t>
            </a:r>
            <a:r>
              <a:rPr lang="en-US" altLang="zh-CN" sz="2800" dirty="0"/>
              <a:t>)){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	...</a:t>
            </a:r>
            <a:br>
              <a:rPr lang="en-US" altLang="zh-CN" sz="2800" dirty="0"/>
            </a:br>
            <a:r>
              <a:rPr lang="en-US" altLang="zh-CN" sz="2800" dirty="0"/>
              <a:t>} </a:t>
            </a:r>
            <a:endParaRPr lang="en-US" altLang="zh-CN" sz="2800" dirty="0">
              <a:solidFill>
                <a:schemeClr val="hlink"/>
              </a:solidFill>
            </a:endParaRPr>
          </a:p>
          <a:p>
            <a:pPr eaLnBrk="1" hangingPunct="1"/>
            <a:r>
              <a:rPr lang="en-US" altLang="zh-CN" sz="2800" dirty="0"/>
              <a:t>C++</a:t>
            </a:r>
            <a:r>
              <a:rPr lang="zh-CN" altLang="en-US" sz="2800" dirty="0"/>
              <a:t>语法：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string a;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while(</a:t>
            </a:r>
            <a:r>
              <a:rPr lang="en-US" altLang="zh-CN" sz="2800" dirty="0" err="1"/>
              <a:t>cin</a:t>
            </a:r>
            <a:r>
              <a:rPr lang="en-US" altLang="zh-CN" sz="2800" dirty="0"/>
              <a:t>&gt;&gt;a){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	...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}</a:t>
            </a:r>
          </a:p>
        </p:txBody>
      </p:sp>
      <p:sp>
        <p:nvSpPr>
          <p:cNvPr id="37890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81146508-D22E-4E22-BAE0-36AE09CD0E31}" type="datetime1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2022/3/11</a:t>
            </a:fld>
            <a:endParaRPr lang="en-US" altLang="zh-CN" dirty="0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  <p:sp>
        <p:nvSpPr>
          <p:cNvPr id="37891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02951E-DDA0-49F4-A79F-1806FBA002F9}" type="slidenum">
              <a:rPr lang="zh-CN" altLang="en-US" smtClean="0">
                <a:solidFill>
                  <a:prstClr val="black">
                    <a:tint val="95000"/>
                  </a:prstClr>
                </a:solidFill>
                <a:ea typeface="宋体" charset="-122"/>
              </a:rPr>
              <a:pPr/>
              <a:t>13</a:t>
            </a:fld>
            <a:endParaRPr lang="en-US" altLang="zh-CN">
              <a:solidFill>
                <a:prstClr val="black">
                  <a:tint val="95000"/>
                </a:prstClr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0682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输入输出注意的问题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不要混用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 err="1"/>
              <a:t>c++</a:t>
            </a:r>
            <a:r>
              <a:rPr lang="zh-CN" altLang="en-US" dirty="0"/>
              <a:t>的输入和输出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没有必要存储下所有的输出，再一次性输出；读入一组样例，计算，输出即可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严格按题目要求格式输出，不要输出其他任何东西</a:t>
            </a:r>
          </a:p>
        </p:txBody>
      </p:sp>
    </p:spTree>
    <p:extLst>
      <p:ext uri="{BB962C8B-B14F-4D97-AF65-F5344CB8AC3E}">
        <p14:creationId xmlns:p14="http://schemas.microsoft.com/office/powerpoint/2010/main" val="1394077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712</Words>
  <Application>Microsoft Office PowerPoint</Application>
  <PresentationFormat>宽屏</PresentationFormat>
  <Paragraphs>99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黑体</vt:lpstr>
      <vt:lpstr>楷体_GB2312</vt:lpstr>
      <vt:lpstr>Arial</vt:lpstr>
      <vt:lpstr>Calibri</vt:lpstr>
      <vt:lpstr>Calibri Light</vt:lpstr>
      <vt:lpstr>Consolas</vt:lpstr>
      <vt:lpstr>Wingdings</vt:lpstr>
      <vt:lpstr>Office 主题</vt:lpstr>
      <vt:lpstr>OJ输入输出形式介绍 www.bjfuacm.com</vt:lpstr>
      <vt:lpstr>输入_第一类：</vt:lpstr>
      <vt:lpstr>源代码：</vt:lpstr>
      <vt:lpstr>本类输入解决方案：</vt:lpstr>
      <vt:lpstr>说明：</vt:lpstr>
      <vt:lpstr>输入_第二类：</vt:lpstr>
      <vt:lpstr>源代码：</vt:lpstr>
      <vt:lpstr>本类输入解决方案：</vt:lpstr>
      <vt:lpstr>输入_第三类：</vt:lpstr>
      <vt:lpstr>源代码：</vt:lpstr>
      <vt:lpstr>本类输入解决方案：</vt:lpstr>
      <vt:lpstr>输入_第四类：</vt:lpstr>
      <vt:lpstr>本类输入解决方案：</vt:lpstr>
      <vt:lpstr>输入输出注意的问题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输入输出形式</dc:title>
  <dc:creator>Xu Yanyan</dc:creator>
  <cp:lastModifiedBy>Xu Yanyan</cp:lastModifiedBy>
  <cp:revision>22</cp:revision>
  <dcterms:created xsi:type="dcterms:W3CDTF">2016-03-13T13:36:18Z</dcterms:created>
  <dcterms:modified xsi:type="dcterms:W3CDTF">2022-03-11T10:41:38Z</dcterms:modified>
</cp:coreProperties>
</file>